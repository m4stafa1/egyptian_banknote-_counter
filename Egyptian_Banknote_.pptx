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2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2398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636955"/>
            <a:ext cx="4572000" cy="4572000"/>
          </a:xfrm>
          <a:prstGeom prst="ellipse">
            <a:avLst/>
          </a:prstGeom>
          <a:solidFill>
            <a:srgbClr val="00C9A7">
              <a:alpha val="9000"/>
            </a:srgbClr>
          </a:solidFill>
          <a:ln w="12700">
            <a:solidFill>
              <a:srgbClr val="00C9A7">
                <a:alpha val="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02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COMPUTER VISION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Banknote Counter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 →  Threshold  →  Edge Detection  →  Contours  →  SVM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00400"/>
            <a:ext cx="1691640" cy="77724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45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32461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3,678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36301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40280" y="3200400"/>
            <a:ext cx="1691640" cy="77724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45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40280" y="32461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40280" y="36301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60520" y="3200400"/>
            <a:ext cx="1691640" cy="77724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45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60520" y="32461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60520" y="36301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PROBLEM &amp; OBJECTIVE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Solving?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43200" cy="347472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5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Counting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6060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cash by hand is slow and error-prone in banks and retail environments.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27832" y="1325880"/>
            <a:ext cx="2743200" cy="347472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5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27832" y="1325880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64992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Denominations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64992" y="26060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denomination types exist — including new 10 &amp; 20 EGP designs released in 2023.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81344" y="1325880"/>
            <a:ext cx="2743200" cy="347472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5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81344" y="1325880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318504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Tool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18504" y="26060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lightweight solution handles Egyptian currency without deep learning.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DATASET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Currency Dataset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011680" cy="100584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898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3,678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865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87168" y="1325880"/>
            <a:ext cx="2011680" cy="100584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7168" y="13898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87168" y="1865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0016" y="1325880"/>
            <a:ext cx="2011680" cy="100584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0016" y="13898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00016" y="1865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Split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12864" y="1325880"/>
            <a:ext cx="2011680" cy="100584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12864" y="13898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12864" y="1865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Notes Included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2542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Splits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07792"/>
          <a:ext cx="4114800" cy="16459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663440" y="2542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Denominations</a:t>
            </a:r>
            <a:endParaRPr lang="en-US" sz="13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944368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93776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EGP</a:t>
            </a:r>
            <a:endParaRPr lang="en-US" sz="11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291840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937760" y="3255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EGP</a:t>
            </a:r>
            <a:endParaRPr lang="en-US" sz="11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639312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937760" y="3602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EGP</a:t>
            </a:r>
            <a:endParaRPr lang="en-US" sz="11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986784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3776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EGP (New)</a:t>
            </a:r>
            <a:endParaRPr lang="en-US" sz="11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4334256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93776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EGP</a:t>
            </a:r>
            <a:endParaRPr lang="en-US" sz="11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944368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8660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EGP (New)</a:t>
            </a:r>
            <a:endParaRPr lang="en-US" sz="11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3291840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086600" y="3255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EGP</a:t>
            </a:r>
            <a:endParaRPr lang="en-US" sz="11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3639312"/>
            <a:ext cx="201168" cy="20116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086600" y="3602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EGP</a:t>
            </a:r>
            <a:endParaRPr lang="en-US" sz="11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3986784"/>
            <a:ext cx="201168" cy="20116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08660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EGP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PIPELINE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CV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43200" cy="160020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5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5087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0" y="13990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C9A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11480" y="1984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23591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photo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banknote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17520" y="2125980"/>
            <a:ext cx="210312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27832" y="1325880"/>
            <a:ext cx="2743200" cy="160020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5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5087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30952" y="13990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C9A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364992" y="1984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+ Blur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64992" y="23591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gray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removal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71032" y="2125980"/>
            <a:ext cx="210312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81344" y="1325880"/>
            <a:ext cx="2743200" cy="160020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5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5087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4464" y="13990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C9A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318504" y="1984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+ Edges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18504" y="23591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binarization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edge detection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74320" y="3154680"/>
            <a:ext cx="2743200" cy="160020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5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33756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377440" y="32278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C9A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411480" y="38130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+ Crop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11480" y="41879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extract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banknote region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017520" y="3954780"/>
            <a:ext cx="210312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227832" y="3154680"/>
            <a:ext cx="2743200" cy="160020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5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2424" y="3337560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30952" y="32278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C9A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3364992" y="38130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364992" y="41879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· LBP · Color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Gabor · Moments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5971032" y="3954780"/>
            <a:ext cx="210312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181344" y="3154680"/>
            <a:ext cx="2743200" cy="1600200"/>
          </a:xfrm>
          <a:prstGeom prst="rect">
            <a:avLst/>
          </a:prstGeom>
          <a:solidFill>
            <a:srgbClr val="1A2535"/>
          </a:solidFill>
          <a:ln w="1270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81344" y="315468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337560"/>
            <a:ext cx="411480" cy="4114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284464" y="32278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9E0B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6318504" y="38130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Classify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318504" y="41879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StandardScaler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206240" cy="109728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2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0" y="1435608"/>
            <a:ext cx="685800" cy="274320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4356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</a:rPr>
              <a:t>96 dim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Histogram (HSV)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647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hue, saturation &amp; brightness across 32 bins each — captures overall color profile of each denomination.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206240" cy="109728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2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92440" y="1435608"/>
            <a:ext cx="685800" cy="274320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14356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</a:rPr>
              <a:t>26 dim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46320" y="1417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 — Texture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7647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Binary Patterns encode micro-texture around each pixel. Effective for detecting printing patterns on banknotes.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4206240" cy="109728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2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0" y="2670048"/>
            <a:ext cx="685800" cy="274320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670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</a:rPr>
              <a:t>~1764 dim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2651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— Shape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299923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of Oriented Gradients captures gradient directions. Detects structural features like numerals and emblems.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560320"/>
            <a:ext cx="4206240" cy="109728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2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92440" y="2670048"/>
            <a:ext cx="685800" cy="274320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2670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</a:rPr>
              <a:t>9 dim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0" y="2651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Moments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99923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standard deviation, and skewness per HSV channel — compact statistical color representation.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794760"/>
            <a:ext cx="4206240" cy="109728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2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0" y="3904488"/>
            <a:ext cx="685800" cy="274320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904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</a:rPr>
              <a:t>24 dim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1480" y="3886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Gabor Filters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42336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at 4 angles × 3 frequencies — captures frequency-based texture patterns like security threads.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794760"/>
            <a:ext cx="4206240" cy="109728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2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92440" y="3904488"/>
            <a:ext cx="685800" cy="274320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3904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</a:rPr>
              <a:t>15 dim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46320" y="3886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Colors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42336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dominant colors via KMeans clustering on pixels — strongly differentiates color-coded denominations.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5202E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PCA:  all features → 300 components  |  Explained variance &gt; 90%  |  Then StandardScaler + SVM (RBF, C=100)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286000" cy="2011680"/>
          </a:xfrm>
          <a:prstGeom prst="rect">
            <a:avLst/>
          </a:prstGeom>
          <a:solidFill>
            <a:srgbClr val="1A2535"/>
          </a:solidFill>
          <a:ln w="12700">
            <a:solidFill>
              <a:srgbClr val="F59E0B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2286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6334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CV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SVM (RBF)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88920" y="1261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88920" y="1627632"/>
          <a:ext cx="6080760" cy="2560320"/>
        </p:xfrm>
        <a:graphic>
          <a:graphicData uri="http://schemas.openxmlformats.org/drawingml/2006/table">
            <a:tbl>
              <a:tblPr/>
              <a:tblGrid>
                <a:gridCol w="1520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0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EGP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EGP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EGP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EGP (New)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EGP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EGP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EGP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EGP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74320" y="3493008"/>
            <a:ext cx="8595360" cy="1417320"/>
          </a:xfrm>
          <a:prstGeom prst="rect">
            <a:avLst/>
          </a:prstGeom>
          <a:solidFill>
            <a:srgbClr val="15202E"/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13632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" y="38953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EGP achieved perfect precision &amp; recall (100%)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0624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3232" y="41879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confusion between visually similar notes: 20/50/200 EGP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98848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" y="4480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(35%) prevents wrong answers on ambiguous images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</a:rPr>
              <a:t>DEPLOYMENT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App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572768" cy="173736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5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48132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" y="201168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72" y="239572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or 2 photos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847088" y="2194560"/>
            <a:ext cx="164592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11680" y="1325880"/>
            <a:ext cx="1572768" cy="173736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5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464" y="148132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84832" y="201168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084832" y="239572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+ Contour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584448" y="2194560"/>
            <a:ext cx="164592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749040" y="1325880"/>
            <a:ext cx="1572768" cy="173736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5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824" y="148132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22192" y="201168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822192" y="239572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 types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321808" y="2194560"/>
            <a:ext cx="164592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0" y="1325880"/>
            <a:ext cx="1572768" cy="173736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5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184" y="148132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59552" y="201168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Predict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559552" y="239572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 confidence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7059168" y="2194560"/>
            <a:ext cx="164592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223760" y="1325880"/>
            <a:ext cx="1572768" cy="173736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5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1544" y="1481328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96912" y="201168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Result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296912" y="239572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+ total EGP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27432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274320" y="3703320"/>
            <a:ext cx="1572768" cy="77724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274320" y="37673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274320" y="40782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2011680" y="3703320"/>
            <a:ext cx="1572768" cy="77724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2011680" y="37673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2011680" y="40782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+ PCA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3749040" y="3703320"/>
            <a:ext cx="1572768" cy="77724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3749040" y="37673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scikit-image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3749040" y="40782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 + HOG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5486400" y="3703320"/>
            <a:ext cx="1572768" cy="77724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5486400" y="37673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5486400" y="40782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7223760" y="3703320"/>
            <a:ext cx="1572768" cy="77724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7223760" y="37673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7223760" y="40782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env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00C9A7">
              <a:alpha val="6000"/>
            </a:srgbClr>
          </a:solidFill>
          <a:ln w="12700">
            <a:solidFill>
              <a:srgbClr val="00C9A7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59E0B"/>
                </a:solidFill>
              </a:rPr>
              <a:t>CONCLUSION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3990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banknote recognition system using Traditional CV — no deep learning required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6596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19476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Grayscale → Blur → Threshold → Edges → Contours → 6 Feature types → PCA → SVM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1460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" y="24963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3,678 images across 9 Egyptian pound denominations including new 2023 designs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06324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9808" y="30449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~75% test accuracy with confidence thresholding for reliable real-world behavior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1188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9808" y="35935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interactive Gradio web app accessible publicly via Ngrok public URL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1A2535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Banknote Counter  ·  Traditional CV  ·  Accurate  ·  Lightweight  ·  Deployable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594</Words>
  <Application>Microsoft Office PowerPoint</Application>
  <PresentationFormat>On-screen Show (16:9)</PresentationFormat>
  <Paragraphs>184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Egyptian Banknote Counter — Traditional CV</dc:title>
  <dc:subject>PptxGenJS Presentation</dc:subject>
  <dc:creator>PptxGenJS</dc:creator>
  <cp:lastModifiedBy>mustafa Ahmed</cp:lastModifiedBy>
  <cp:revision>2</cp:revision>
  <dcterms:created xsi:type="dcterms:W3CDTF">2026-05-17T14:52:32Z</dcterms:created>
  <dcterms:modified xsi:type="dcterms:W3CDTF">2026-05-17T15:03:01Z</dcterms:modified>
</cp:coreProperties>
</file>